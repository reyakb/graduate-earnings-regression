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omments/comment1.xml" ContentType="application/vnd.openxmlformats-officedocument.presentationml.comment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4"/>
  </p:sldMasterIdLst>
  <p:sldIdLst>
    <p:sldId id="256" r:id="rId5"/>
    <p:sldId id="257" r:id="rId6"/>
    <p:sldId id="258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iden Akbarov" initials="AA" lastIdx="1" clrIdx="0">
    <p:extLst>
      <p:ext uri="{19B8F6BF-5375-455C-9EA6-DF929625EA0E}">
        <p15:presenceInfo xmlns:p15="http://schemas.microsoft.com/office/powerpoint/2012/main" userId="S::oy790178@ucf.edu::a054ec45-c514-4a38-a1ca-42189f9f781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3831" autoAdjust="0"/>
  </p:normalViewPr>
  <p:slideViewPr>
    <p:cSldViewPr snapToGrid="0">
      <p:cViewPr varScale="1">
        <p:scale>
          <a:sx n="101" d="100"/>
          <a:sy n="101" d="100"/>
        </p:scale>
        <p:origin x="948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commentAuthors" Target="commentAuthors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iden Akbarov" userId="a054ec45-c514-4a38-a1ca-42189f9f7819" providerId="ADAL" clId="{30794384-B898-4E57-8597-69DF99164F30}"/>
    <pc:docChg chg="modSld">
      <pc:chgData name="Aiden Akbarov" userId="a054ec45-c514-4a38-a1ca-42189f9f7819" providerId="ADAL" clId="{30794384-B898-4E57-8597-69DF99164F30}" dt="2026-09-30T06:19:16.298" v="4" actId="20577"/>
      <pc:docMkLst>
        <pc:docMk/>
      </pc:docMkLst>
      <pc:sldChg chg="modSp mod">
        <pc:chgData name="Aiden Akbarov" userId="a054ec45-c514-4a38-a1ca-42189f9f7819" providerId="ADAL" clId="{30794384-B898-4E57-8597-69DF99164F30}" dt="2026-09-30T06:19:16.298" v="4" actId="20577"/>
        <pc:sldMkLst>
          <pc:docMk/>
          <pc:sldMk cId="649356696" sldId="256"/>
        </pc:sldMkLst>
        <pc:spChg chg="mod">
          <ac:chgData name="Aiden Akbarov" userId="a054ec45-c514-4a38-a1ca-42189f9f7819" providerId="ADAL" clId="{30794384-B898-4E57-8597-69DF99164F30}" dt="2026-09-30T06:19:16.298" v="4" actId="20577"/>
          <ac:spMkLst>
            <pc:docMk/>
            <pc:sldMk cId="649356696" sldId="256"/>
            <ac:spMk id="3" creationId="{79983184-692B-4B74-A6B7-4EF51FA23987}"/>
          </ac:spMkLst>
        </pc:spChg>
      </pc:sldChg>
    </pc:docChg>
  </pc:docChgLst>
</pc:chgInfo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4-13T00:38:16.327" idx="1">
    <p:pos x="10" y="10"/>
    <p:text/>
    <p:extLst>
      <p:ext uri="{C676402C-5697-4E1C-873F-D02D1690AC5C}">
        <p15:threadingInfo xmlns:p15="http://schemas.microsoft.com/office/powerpoint/2012/main" timeZoneBias="24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7C3A2-E3EC-48BD-A397-E14B5B6E6FAA}" type="datetimeFigureOut">
              <a:rPr lang="en-US" smtClean="0"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4D40B942-F052-463C-A28A-81E0F714112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2619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7C3A2-E3EC-48BD-A397-E14B5B6E6FAA}" type="datetimeFigureOut">
              <a:rPr lang="en-US" smtClean="0"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0B942-F052-463C-A28A-81E0F714112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9145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7C3A2-E3EC-48BD-A397-E14B5B6E6FAA}" type="datetimeFigureOut">
              <a:rPr lang="en-US" smtClean="0"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D40B942-F052-463C-A28A-81E0F714112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8740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7C3A2-E3EC-48BD-A397-E14B5B6E6FAA}" type="datetimeFigureOut">
              <a:rPr lang="en-US" smtClean="0"/>
              <a:t>9/30/2026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4D40B942-F052-463C-A28A-81E0F714112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1034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7C3A2-E3EC-48BD-A397-E14B5B6E6FAA}" type="datetimeFigureOut">
              <a:rPr lang="en-US" smtClean="0"/>
              <a:t>9/30/2026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4D40B942-F052-463C-A28A-81E0F714112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9643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7C3A2-E3EC-48BD-A397-E14B5B6E6FAA}" type="datetimeFigureOut">
              <a:rPr lang="en-US" smtClean="0"/>
              <a:t>9/30/2026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0B942-F052-463C-A28A-81E0F714112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34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7C3A2-E3EC-48BD-A397-E14B5B6E6FAA}" type="datetimeFigureOut">
              <a:rPr lang="en-US" smtClean="0"/>
              <a:t>9/30/2026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0B942-F052-463C-A28A-81E0F714112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6128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7C3A2-E3EC-48BD-A397-E14B5B6E6FAA}" type="datetimeFigureOut">
              <a:rPr lang="en-US" smtClean="0"/>
              <a:t>9/30/2026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0B942-F052-463C-A28A-81E0F714112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5748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7C3A2-E3EC-48BD-A397-E14B5B6E6FAA}" type="datetimeFigureOut">
              <a:rPr lang="en-US" smtClean="0"/>
              <a:t>9/30/2026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D40B942-F052-463C-A28A-81E0F714112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8078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7C3A2-E3EC-48BD-A397-E14B5B6E6FAA}" type="datetimeFigureOut">
              <a:rPr lang="en-US" smtClean="0"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D40B942-F052-463C-A28A-81E0F714112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5959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7C3A2-E3EC-48BD-A397-E14B5B6E6FAA}" type="datetimeFigureOut">
              <a:rPr lang="en-US" smtClean="0"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D40B942-F052-463C-A28A-81E0F714112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339631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7C3A2-E3EC-48BD-A397-E14B5B6E6FAA}" type="datetimeFigureOut">
              <a:rPr lang="en-US" smtClean="0"/>
              <a:t>9/30/2026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D40B942-F052-463C-A28A-81E0F714112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93277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7C3A2-E3EC-48BD-A397-E14B5B6E6FAA}" type="datetimeFigureOut">
              <a:rPr lang="en-US" smtClean="0"/>
              <a:t>9/30/2026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D40B942-F052-463C-A28A-81E0F714112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895273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7C3A2-E3EC-48BD-A397-E14B5B6E6FAA}" type="datetimeFigureOut">
              <a:rPr lang="en-US" smtClean="0"/>
              <a:t>9/30/2026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D40B942-F052-463C-A28A-81E0F714112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2047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7C3A2-E3EC-48BD-A397-E14B5B6E6FAA}" type="datetimeFigureOut">
              <a:rPr lang="en-US" smtClean="0"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0B942-F052-463C-A28A-81E0F714112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40439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7C3A2-E3EC-48BD-A397-E14B5B6E6FAA}" type="datetimeFigureOut">
              <a:rPr lang="en-US" smtClean="0"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0B942-F052-463C-A28A-81E0F714112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6412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97C3A2-E3EC-48BD-A397-E14B5B6E6FAA}" type="datetimeFigureOut">
              <a:rPr lang="en-US" smtClean="0"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4D40B942-F052-463C-A28A-81E0F714112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606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4" Type="http://schemas.openxmlformats.org/officeDocument/2006/relationships/comments" Target="../comments/commen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7CD39-3A8A-4787-AB6E-16A69FE25E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9212" y="1166219"/>
            <a:ext cx="8915399" cy="2262781"/>
          </a:xfrm>
        </p:spPr>
        <p:txBody>
          <a:bodyPr>
            <a:normAutofit fontScale="90000"/>
          </a:bodyPr>
          <a:lstStyle/>
          <a:p>
            <a:r>
              <a:rPr lang="en-US" dirty="0"/>
              <a:t>Predicting the Paycheck: What Factors Truly Influence Graduate Earnings?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983184-692B-4B74-A6B7-4EF51FA2398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000"/>
              <a:t>Oybek </a:t>
            </a:r>
            <a:r>
              <a:rPr lang="en-US" sz="2000" dirty="0"/>
              <a:t>Akbarov | STA 4164 | University of Central Florida</a:t>
            </a:r>
          </a:p>
        </p:txBody>
      </p:sp>
    </p:spTree>
    <p:extLst>
      <p:ext uri="{BB962C8B-B14F-4D97-AF65-F5344CB8AC3E}">
        <p14:creationId xmlns:p14="http://schemas.microsoft.com/office/powerpoint/2010/main" val="649356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8B480-2FC7-4297-A423-E1AB03B4B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2938" y="4597"/>
            <a:ext cx="3505199" cy="976312"/>
          </a:xfrm>
        </p:spPr>
        <p:txBody>
          <a:bodyPr>
            <a:normAutofit/>
          </a:bodyPr>
          <a:lstStyle/>
          <a:p>
            <a:r>
              <a:rPr lang="en-US" sz="2400" dirty="0"/>
              <a:t>Research Objective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2D2B3B8D-4DAE-4D17-9987-C6243A2A99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8800"/>
                    </a14:imgEffect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5242" y="980909"/>
            <a:ext cx="7707949" cy="5323638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205E6F-325B-456E-8893-2875C6B522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08179" y="1394034"/>
            <a:ext cx="4047063" cy="4497388"/>
          </a:xfrm>
        </p:spPr>
        <p:txBody>
          <a:bodyPr>
            <a:normAutofit lnSpcReduction="10000"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/>
              <a:t>Objective:  Identify the characteristics of a major that are associated with higher median earnings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/>
              <a:t>Context: Analyzing 172 academic majors using U.S. Census/ACS survey data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/>
              <a:t>Variables: Looking at gender composition (</a:t>
            </a:r>
            <a:r>
              <a:rPr lang="en-US" sz="2000" dirty="0" err="1"/>
              <a:t>ShareWomen</a:t>
            </a:r>
            <a:r>
              <a:rPr lang="en-US" sz="2000" dirty="0"/>
              <a:t>), job types (</a:t>
            </a:r>
            <a:r>
              <a:rPr lang="en-US" sz="2000" dirty="0" err="1"/>
              <a:t>Low_wage_jobs</a:t>
            </a:r>
            <a:r>
              <a:rPr lang="en-US" sz="2000" dirty="0"/>
              <a:t>), and broad field categories (</a:t>
            </a:r>
            <a:r>
              <a:rPr lang="en-US" sz="2000" dirty="0" err="1"/>
              <a:t>Major_category</a:t>
            </a:r>
            <a:r>
              <a:rPr lang="en-US" sz="20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942819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549E0-7ACE-4243-BAD3-BCF7D1E01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2" y="4489935"/>
            <a:ext cx="8915400" cy="566738"/>
          </a:xfrm>
        </p:spPr>
        <p:txBody>
          <a:bodyPr>
            <a:normAutofit/>
          </a:bodyPr>
          <a:lstStyle/>
          <a:p>
            <a:r>
              <a:rPr lang="en-US" sz="2800" dirty="0"/>
              <a:t>Methodology</a:t>
            </a:r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7BCBCB0C-C834-4AA0-A42D-ECA12676734F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7575" b="17575"/>
          <a:stretch>
            <a:fillRect/>
          </a:stretch>
        </p:blipFill>
        <p:spPr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C5C0E0-ED61-472F-939F-7D133DFA6F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589212" y="5269784"/>
            <a:ext cx="8915400" cy="1419775"/>
          </a:xfrm>
        </p:spPr>
        <p:txBody>
          <a:bodyPr>
            <a:normAutofit lnSpcReduction="10000"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400" dirty="0"/>
              <a:t>Multiple Linear Regression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400" dirty="0"/>
              <a:t>Data Partitioning (“Training” and “Testing” sets)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400" dirty="0"/>
              <a:t>“Data Leakage” and Multicollinearity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8942456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3D73E-3389-4F7C-AFC3-6073DA482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8568" y="255141"/>
            <a:ext cx="7994864" cy="819679"/>
          </a:xfrm>
        </p:spPr>
        <p:txBody>
          <a:bodyPr>
            <a:normAutofit/>
          </a:bodyPr>
          <a:lstStyle/>
          <a:p>
            <a:r>
              <a:rPr lang="en-US" sz="2800" dirty="0"/>
              <a:t>The Landscape of Earnings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5FF3DCF-F5BA-4ACD-8993-B1AC5A53D7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8616" y="1074820"/>
            <a:ext cx="8674768" cy="5783180"/>
          </a:xfrm>
        </p:spPr>
      </p:pic>
    </p:spTree>
    <p:extLst>
      <p:ext uri="{BB962C8B-B14F-4D97-AF65-F5344CB8AC3E}">
        <p14:creationId xmlns:p14="http://schemas.microsoft.com/office/powerpoint/2010/main" val="10700616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BA8E44-3FFE-48C5-9EB9-C8467C706A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89211" y="2651067"/>
            <a:ext cx="8915399" cy="2915543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For every 10% increase in female representation in a major, the predicted median salary </a:t>
            </a:r>
            <a:r>
              <a:rPr lang="en-US" sz="2400" b="1" dirty="0"/>
              <a:t>drops by ~$1,586.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Employment rates and the number of college-level jobs were </a:t>
            </a:r>
            <a:r>
              <a:rPr lang="en-US" sz="2400" b="1" i="1" dirty="0"/>
              <a:t>not</a:t>
            </a:r>
            <a:r>
              <a:rPr lang="en-US" sz="2400" dirty="0"/>
              <a:t> significant predictors. The </a:t>
            </a:r>
            <a:r>
              <a:rPr lang="en-US" sz="2400" b="1" i="1" dirty="0"/>
              <a:t>category</a:t>
            </a:r>
            <a:r>
              <a:rPr lang="en-US" sz="2400" dirty="0"/>
              <a:t> of the degree is the dominant factor.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EFE0066F-0E91-46AE-9C73-39B252B08A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0490341"/>
              </p:ext>
            </p:extLst>
          </p:nvPr>
        </p:nvGraphicFramePr>
        <p:xfrm>
          <a:off x="2982911" y="368968"/>
          <a:ext cx="8128000" cy="21175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995149764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393371981"/>
                    </a:ext>
                  </a:extLst>
                </a:gridCol>
              </a:tblGrid>
              <a:tr h="1058779">
                <a:tc>
                  <a:txBody>
                    <a:bodyPr/>
                    <a:lstStyle/>
                    <a:p>
                      <a:r>
                        <a:rPr lang="en-US" sz="2800" dirty="0"/>
                        <a:t>Major Category (Engineering)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$20,034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9765643"/>
                  </a:ext>
                </a:extLst>
              </a:tr>
              <a:tr h="1058779">
                <a:tc>
                  <a:txBody>
                    <a:bodyPr/>
                    <a:lstStyle/>
                    <a:p>
                      <a:r>
                        <a:rPr lang="en-US" sz="2800" dirty="0"/>
                        <a:t>Share of Women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-$15,866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68916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9408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E5275BF6-1BEE-4CF8-8569-12E9DD9D6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9810" y="348374"/>
            <a:ext cx="3505199" cy="976312"/>
          </a:xfrm>
        </p:spPr>
        <p:txBody>
          <a:bodyPr>
            <a:normAutofit/>
          </a:bodyPr>
          <a:lstStyle/>
          <a:p>
            <a:r>
              <a:rPr lang="en-US" sz="2800" dirty="0"/>
              <a:t>Can We Trust the Model?</a:t>
            </a:r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DB749CAF-19B1-4C28-92DF-04240DDBA4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7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5016" y="1085182"/>
            <a:ext cx="6906984" cy="5026859"/>
          </a:xfrm>
        </p:spPr>
      </p:pic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D55E6D9-3D23-449B-9B55-B4E9B224BC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0442" y="1759032"/>
            <a:ext cx="4184567" cy="4353009"/>
          </a:xfrm>
        </p:spPr>
        <p:txBody>
          <a:bodyPr>
            <a:normAutofit fontScale="92500" lnSpcReduction="20000"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/>
              <a:t>The model’s guesses were typically within $4,006 of the actual salary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/>
              <a:t>The “Testing Error” was actually lower than the “Training Error”, proving the model generalizes perfectly to unseen data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/>
              <a:t>The model explains 55% of why graduate salaries differ</a:t>
            </a:r>
          </a:p>
        </p:txBody>
      </p:sp>
    </p:spTree>
    <p:extLst>
      <p:ext uri="{BB962C8B-B14F-4D97-AF65-F5344CB8AC3E}">
        <p14:creationId xmlns:p14="http://schemas.microsoft.com/office/powerpoint/2010/main" val="10960998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1FC8F-7152-45E4-939C-889B43E13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948" y="266983"/>
            <a:ext cx="10381664" cy="1994954"/>
          </a:xfrm>
        </p:spPr>
        <p:txBody>
          <a:bodyPr/>
          <a:lstStyle/>
          <a:p>
            <a:r>
              <a:rPr lang="en-US" dirty="0"/>
              <a:t>Real-World Impacts &amp; Future Steps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20E038-CCEE-4DAE-9F61-0D2F824476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89212" y="2261937"/>
            <a:ext cx="8915399" cy="4079566"/>
          </a:xfrm>
        </p:spPr>
        <p:txBody>
          <a:bodyPr>
            <a:normAutofit/>
          </a:bodyPr>
          <a:lstStyle/>
          <a:p>
            <a:r>
              <a:rPr lang="en-US" sz="2400" dirty="0"/>
              <a:t>This research provides students and advisors with a tool to evaluate the economic reality of their choices.</a:t>
            </a:r>
          </a:p>
          <a:p>
            <a:r>
              <a:rPr lang="en-US" sz="2400" dirty="0"/>
              <a:t>It highlights that demographic factors (gender mix) are mathematically visible in salary outcomes from day one of graduation.</a:t>
            </a:r>
          </a:p>
          <a:p>
            <a:r>
              <a:rPr lang="en-US" sz="2400" dirty="0"/>
              <a:t>Future research should include geographic location (Cost of Living) to improve accuracy.</a:t>
            </a:r>
          </a:p>
          <a:p>
            <a:r>
              <a:rPr lang="en-US" sz="2400" dirty="0"/>
              <a:t>Data allows us to turn career anxiety into evidence-based decisions.</a:t>
            </a:r>
          </a:p>
        </p:txBody>
      </p:sp>
    </p:spTree>
    <p:extLst>
      <p:ext uri="{BB962C8B-B14F-4D97-AF65-F5344CB8AC3E}">
        <p14:creationId xmlns:p14="http://schemas.microsoft.com/office/powerpoint/2010/main" val="29300467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BFDF0-37B3-44A3-B856-FED5531FD2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8300" y="413952"/>
            <a:ext cx="8915399" cy="1126284"/>
          </a:xfrm>
        </p:spPr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61B4CE-19DD-4826-AED4-C34B1053BE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07300" y="1870230"/>
            <a:ext cx="8915399" cy="3776807"/>
          </a:xfrm>
        </p:spPr>
        <p:txBody>
          <a:bodyPr>
            <a:noAutofit/>
          </a:bodyPr>
          <a:lstStyle/>
          <a:p>
            <a:r>
              <a:rPr lang="en-US" sz="2000" dirty="0"/>
              <a:t>Jun, E. (n.d.). </a:t>
            </a:r>
            <a:r>
              <a:rPr lang="en-US" sz="2000" dirty="0" err="1"/>
              <a:t>data_college_income</a:t>
            </a:r>
            <a:r>
              <a:rPr lang="en-US" sz="2000" dirty="0"/>
              <a:t> [Data set]. GitHub. https://github.com/emjun/data_college_income/tree/master</a:t>
            </a:r>
          </a:p>
          <a:p>
            <a:endParaRPr lang="en-US" sz="2000" dirty="0"/>
          </a:p>
          <a:p>
            <a:r>
              <a:rPr lang="en-US" sz="2000" dirty="0"/>
              <a:t>R Core Team. (2024). R: A language and environment for statistical computing. R Foundation for Statistical Computing. https://www.R-project.org/</a:t>
            </a:r>
          </a:p>
          <a:p>
            <a:endParaRPr lang="en-US" sz="2000" dirty="0"/>
          </a:p>
          <a:p>
            <a:r>
              <a:rPr lang="en-US" sz="2000" dirty="0"/>
              <a:t>U.S. Census Bureau. (2012). American Community Survey (ACS) 2010-2012 Public Use Microdata Sample.</a:t>
            </a:r>
          </a:p>
          <a:p>
            <a:endParaRPr lang="en-US" sz="2000" dirty="0"/>
          </a:p>
          <a:p>
            <a:r>
              <a:rPr lang="en-US" sz="2000" dirty="0"/>
              <a:t>Wickham, H. (2016). ggplot2: Elegant Graphics for Data Analysis. Springer-Verlag New York.</a:t>
            </a:r>
          </a:p>
        </p:txBody>
      </p:sp>
    </p:spTree>
    <p:extLst>
      <p:ext uri="{BB962C8B-B14F-4D97-AF65-F5344CB8AC3E}">
        <p14:creationId xmlns:p14="http://schemas.microsoft.com/office/powerpoint/2010/main" val="2621322219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4B9C123424B5F4CA8BC78019CB3E95F" ma:contentTypeVersion="4" ma:contentTypeDescription="Create a new document." ma:contentTypeScope="" ma:versionID="88f1116d0ace999323ed2f21285f7fb3">
  <xsd:schema xmlns:xsd="http://www.w3.org/2001/XMLSchema" xmlns:xs="http://www.w3.org/2001/XMLSchema" xmlns:p="http://schemas.microsoft.com/office/2006/metadata/properties" xmlns:ns3="33aa9622-3428-41de-bbd4-6531a7bea296" targetNamespace="http://schemas.microsoft.com/office/2006/metadata/properties" ma:root="true" ma:fieldsID="75c620f753c9a0571cbb1594fe733eee" ns3:_="">
    <xsd:import namespace="33aa9622-3428-41de-bbd4-6531a7bea296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aa9622-3428-41de-bbd4-6531a7bea296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BC5288E-C6CA-43D4-B1A5-8FB19C5FF88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3aa9622-3428-41de-bbd4-6531a7bea29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54E0039-C1AD-438C-8A30-BCD636C59ABC}">
  <ds:schemaRefs>
    <ds:schemaRef ds:uri="http://purl.org/dc/dcmitype/"/>
    <ds:schemaRef ds:uri="http://schemas.microsoft.com/office/2006/metadata/properties"/>
    <ds:schemaRef ds:uri="http://www.w3.org/XML/1998/namespace"/>
    <ds:schemaRef ds:uri="http://schemas.microsoft.com/office/2006/documentManagement/types"/>
    <ds:schemaRef ds:uri="http://purl.org/dc/elements/1.1/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33aa9622-3428-41de-bbd4-6531a7bea296"/>
  </ds:schemaRefs>
</ds:datastoreItem>
</file>

<file path=customXml/itemProps3.xml><?xml version="1.0" encoding="utf-8"?>
<ds:datastoreItem xmlns:ds="http://schemas.openxmlformats.org/officeDocument/2006/customXml" ds:itemID="{3236EAB5-EA31-404E-BD82-B594A8DE791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174</TotalTime>
  <Words>392</Words>
  <Application>Microsoft Office PowerPoint</Application>
  <PresentationFormat>Widescreen</PresentationFormat>
  <Paragraphs>39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Century Gothic</vt:lpstr>
      <vt:lpstr>Wingdings</vt:lpstr>
      <vt:lpstr>Wingdings 3</vt:lpstr>
      <vt:lpstr>Wisp</vt:lpstr>
      <vt:lpstr>Predicting the Paycheck: What Factors Truly Influence Graduate Earnings?</vt:lpstr>
      <vt:lpstr>Research Objective</vt:lpstr>
      <vt:lpstr>Methodology</vt:lpstr>
      <vt:lpstr>The Landscape of Earnings</vt:lpstr>
      <vt:lpstr>PowerPoint Presentation</vt:lpstr>
      <vt:lpstr>Can We Trust the Model?</vt:lpstr>
      <vt:lpstr>Real-World Impacts &amp; Future Steps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Oybek</dc:creator>
  <cp:lastModifiedBy>Aiden Akbarov</cp:lastModifiedBy>
  <cp:revision>15</cp:revision>
  <dcterms:created xsi:type="dcterms:W3CDTF">2026-04-13T02:07:02Z</dcterms:created>
  <dcterms:modified xsi:type="dcterms:W3CDTF">2026-09-30T06:23:20Z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0x010100F4B9C123424B5F4CA8BC78019CB3E95F</vt:lpwstr>
  </property>
</Properties>
</file>